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12" r:id="rId15"/>
    <p:sldId id="311" r:id="rId16"/>
    <p:sldId id="310"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2600" autoAdjust="0"/>
  </p:normalViewPr>
  <p:slideViewPr>
    <p:cSldViewPr snapToGrid="0">
      <p:cViewPr varScale="1">
        <p:scale>
          <a:sx n="44" d="100"/>
          <a:sy n="44" d="100"/>
        </p:scale>
        <p:origin x="117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653E6E7-FBA5-8494-4B8E-90040DD5ACE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C064070-2F61-A26F-9663-E0BC61EA85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6255988-E761-5DF2-524F-9C59AF7CC8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5931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0FD723FA-5744-459E-C481-B9D7DB08884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4044CA1-F811-4170-D556-FA718896CC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94ACEC97-BA67-39E8-551D-8F4C6773C8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5436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C7C0688-4BB3-F6C2-1F09-B8BB743A568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FB306A5-736C-16BB-1B7E-E04ECF672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3AE32E7-CFFD-AA81-01D8-40D2A21348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2102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nusha-demonslayer/Finance-AI-Guider-Digital-Financial-Literacy-Agent/blob/main/README.md"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github.com/Anusha-demonslayer/Finance-AI-Guider-Digital-Financial-Literacy-Agent.git"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82601580"/>
              </p:ext>
            </p:extLst>
          </p:nvPr>
        </p:nvGraphicFramePr>
        <p:xfrm>
          <a:off x="1299257" y="2600315"/>
          <a:ext cx="9394989" cy="2114016"/>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2012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AI Agent for Digital Financial Literacy </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
        <p:nvSpPr>
          <p:cNvPr id="2" name="TextBox 1">
            <a:extLst>
              <a:ext uri="{FF2B5EF4-FFF2-40B4-BE49-F238E27FC236}">
                <a16:creationId xmlns:a16="http://schemas.microsoft.com/office/drawing/2014/main" id="{14834290-4CD0-5BE4-FEF8-827004857636}"/>
              </a:ext>
            </a:extLst>
          </p:cNvPr>
          <p:cNvSpPr txBox="1"/>
          <p:nvPr/>
        </p:nvSpPr>
        <p:spPr>
          <a:xfrm>
            <a:off x="1539240" y="3962401"/>
            <a:ext cx="1310640" cy="338554"/>
          </a:xfrm>
          <a:prstGeom prst="rect">
            <a:avLst/>
          </a:prstGeom>
          <a:noFill/>
        </p:spPr>
        <p:txBody>
          <a:bodyPr wrap="square" rtlCol="0">
            <a:spAutoFit/>
          </a:bodyPr>
          <a:lstStyle/>
          <a:p>
            <a:r>
              <a:rPr lang="en-IN" sz="1600" dirty="0"/>
              <a:t>ANUSHA S</a:t>
            </a:r>
          </a:p>
        </p:txBody>
      </p:sp>
      <p:sp>
        <p:nvSpPr>
          <p:cNvPr id="6" name="TextBox 5">
            <a:extLst>
              <a:ext uri="{FF2B5EF4-FFF2-40B4-BE49-F238E27FC236}">
                <a16:creationId xmlns:a16="http://schemas.microsoft.com/office/drawing/2014/main" id="{C745EF6A-C016-B6A4-BA67-D7FA1031EAC4}"/>
              </a:ext>
            </a:extLst>
          </p:cNvPr>
          <p:cNvSpPr txBox="1"/>
          <p:nvPr/>
        </p:nvSpPr>
        <p:spPr>
          <a:xfrm>
            <a:off x="5897880" y="3947160"/>
            <a:ext cx="2316660" cy="523220"/>
          </a:xfrm>
          <a:prstGeom prst="rect">
            <a:avLst/>
          </a:prstGeom>
          <a:noFill/>
        </p:spPr>
        <p:txBody>
          <a:bodyPr wrap="none" rtlCol="0">
            <a:spAutoFit/>
          </a:bodyPr>
          <a:lstStyle/>
          <a:p>
            <a:r>
              <a:rPr lang="en-IN" dirty="0"/>
              <a:t>shankar93622@gmail.com</a:t>
            </a:r>
          </a:p>
          <a:p>
            <a:endParaRPr lang="en-IN" dirty="0"/>
          </a:p>
        </p:txBody>
      </p:sp>
      <p:sp>
        <p:nvSpPr>
          <p:cNvPr id="8" name="TextBox 7">
            <a:extLst>
              <a:ext uri="{FF2B5EF4-FFF2-40B4-BE49-F238E27FC236}">
                <a16:creationId xmlns:a16="http://schemas.microsoft.com/office/drawing/2014/main" id="{5E336498-2156-A9E9-58E3-1182DE9F3DBE}"/>
              </a:ext>
            </a:extLst>
          </p:cNvPr>
          <p:cNvSpPr txBox="1"/>
          <p:nvPr/>
        </p:nvSpPr>
        <p:spPr>
          <a:xfrm>
            <a:off x="8717280" y="3931920"/>
            <a:ext cx="1322798" cy="338554"/>
          </a:xfrm>
          <a:prstGeom prst="rect">
            <a:avLst/>
          </a:prstGeom>
          <a:noFill/>
        </p:spPr>
        <p:txBody>
          <a:bodyPr wrap="none" rtlCol="0">
            <a:spAutoFit/>
          </a:bodyPr>
          <a:lstStyle/>
          <a:p>
            <a:r>
              <a:rPr lang="en-IN" sz="1600" dirty="0"/>
              <a:t>9945309777</a:t>
            </a:r>
          </a:p>
        </p:txBody>
      </p:sp>
      <p:pic>
        <p:nvPicPr>
          <p:cNvPr id="11" name="Picture 10">
            <a:extLst>
              <a:ext uri="{FF2B5EF4-FFF2-40B4-BE49-F238E27FC236}">
                <a16:creationId xmlns:a16="http://schemas.microsoft.com/office/drawing/2014/main" id="{F91B2F01-00C4-C583-A710-844ED272F271}"/>
              </a:ext>
            </a:extLst>
          </p:cNvPr>
          <p:cNvPicPr>
            <a:picLocks noChangeAspect="1"/>
          </p:cNvPicPr>
          <p:nvPr/>
        </p:nvPicPr>
        <p:blipFill>
          <a:blip r:embed="rId3"/>
          <a:stretch>
            <a:fillRect/>
          </a:stretch>
        </p:blipFill>
        <p:spPr>
          <a:xfrm>
            <a:off x="3903784" y="3622430"/>
            <a:ext cx="1102701" cy="94957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150680"/>
            <a:ext cx="10792968" cy="5632311"/>
          </a:xfrm>
          <a:prstGeom prst="rect">
            <a:avLst/>
          </a:prstGeom>
          <a:noFill/>
        </p:spPr>
        <p:txBody>
          <a:bodyPr wrap="square" rtlCol="0">
            <a:spAutoFit/>
          </a:bodyPr>
          <a:lstStyle/>
          <a:p>
            <a:pPr algn="just" fontAlgn="base"/>
            <a:r>
              <a:rPr lang="en-US" sz="2000" b="1" dirty="0"/>
              <a:t>The Challenge</a:t>
            </a:r>
            <a:r>
              <a:rPr lang="en-US" sz="2000" dirty="0"/>
              <a:t> </a:t>
            </a:r>
          </a:p>
          <a:p>
            <a:pPr algn="just" fontAlgn="base"/>
            <a:r>
              <a:rPr lang="en-IN" sz="2000" dirty="0"/>
              <a:t>The primary challenge lies in the fact that many individuals have limited awareness of digital financial tools, which makes it difficult for them to confidently use UPI, manage budgets, or understand concepts like interest rates. India’s multilingual and culturally diverse population adds another layer of complexity, since financial literacy resources are not always available in local languages or tailored to cultural contexts. </a:t>
            </a:r>
            <a:endParaRPr lang="en-IN" sz="2000" b="1" dirty="0"/>
          </a:p>
          <a:p>
            <a:pPr algn="just" fontAlgn="base"/>
            <a:r>
              <a:rPr lang="en-US" sz="2000" b="1" dirty="0"/>
              <a:t>The Objective</a:t>
            </a:r>
            <a:r>
              <a:rPr lang="en-US" sz="2000" dirty="0"/>
              <a:t> :</a:t>
            </a:r>
          </a:p>
          <a:p>
            <a:pPr marL="285750" lvl="0" indent="-285750" algn="just">
              <a:buFont typeface="Wingdings" panose="05000000000000000000" pitchFamily="2" charset="2"/>
              <a:buChar char="Ø"/>
            </a:pPr>
            <a:r>
              <a:rPr lang="en-IN" sz="2000" b="1" dirty="0"/>
              <a:t>Provide multilingual support</a:t>
            </a:r>
            <a:r>
              <a:rPr lang="en-IN" sz="2000" dirty="0"/>
              <a:t> so users can interact in their native language.</a:t>
            </a:r>
          </a:p>
          <a:p>
            <a:pPr marL="285750" lvl="0" indent="-285750" algn="just">
              <a:buFont typeface="Wingdings" panose="05000000000000000000" pitchFamily="2" charset="2"/>
              <a:buChar char="Ø"/>
            </a:pPr>
            <a:r>
              <a:rPr lang="en-IN" sz="2000" b="1" dirty="0"/>
              <a:t>Enhance digital confidence</a:t>
            </a:r>
            <a:r>
              <a:rPr lang="en-IN" sz="2000" dirty="0"/>
              <a:t> by guiding users through safe UPI transactions, budgeting, and loan practices.</a:t>
            </a:r>
          </a:p>
          <a:p>
            <a:pPr marL="285750" lvl="0" indent="-285750" algn="just">
              <a:buFont typeface="Wingdings" panose="05000000000000000000" pitchFamily="2" charset="2"/>
              <a:buChar char="Ø"/>
            </a:pPr>
            <a:r>
              <a:rPr lang="en-IN" sz="2000" b="1" dirty="0"/>
              <a:t>Protect against fraud</a:t>
            </a:r>
            <a:r>
              <a:rPr lang="en-IN" sz="2000" dirty="0"/>
              <a:t> by teaching scam awareness and safe online </a:t>
            </a:r>
            <a:r>
              <a:rPr lang="en-IN" sz="2000" dirty="0" err="1"/>
              <a:t>behavior</a:t>
            </a:r>
            <a:r>
              <a:rPr lang="en-IN" sz="2000" dirty="0"/>
              <a:t>.</a:t>
            </a:r>
          </a:p>
          <a:p>
            <a:pPr marL="285750" lvl="0" indent="-285750" algn="just">
              <a:buFont typeface="Wingdings" panose="05000000000000000000" pitchFamily="2" charset="2"/>
              <a:buChar char="Ø"/>
            </a:pPr>
            <a:r>
              <a:rPr lang="en-IN" sz="2000" b="1" dirty="0"/>
              <a:t>Bridge knowledge gaps</a:t>
            </a:r>
            <a:r>
              <a:rPr lang="en-IN" sz="2000" dirty="0"/>
              <a:t> by retrieving content from trusted government, banking, and educational portals using RAG.</a:t>
            </a:r>
          </a:p>
          <a:p>
            <a:pPr marL="285750" lvl="0" indent="-285750" algn="just">
              <a:buFont typeface="Wingdings" panose="05000000000000000000" pitchFamily="2" charset="2"/>
              <a:buChar char="Ø"/>
            </a:pPr>
            <a:r>
              <a:rPr lang="en-IN" sz="2000" b="1" dirty="0"/>
              <a:t>Promote inclusivity</a:t>
            </a:r>
            <a:r>
              <a:rPr lang="en-IN" sz="2000" dirty="0"/>
              <a:t> by making financial literacy culturally relevant and accessible to diverse backgrounds.</a:t>
            </a:r>
          </a:p>
          <a:p>
            <a:pPr marL="285750" lvl="0" indent="-285750" algn="just">
              <a:buFont typeface="Wingdings" panose="05000000000000000000" pitchFamily="2" charset="2"/>
              <a:buChar char="Ø"/>
            </a:pPr>
            <a:r>
              <a:rPr lang="en-IN" sz="2000" b="1" dirty="0"/>
              <a:t>Leverage IBM technology</a:t>
            </a:r>
            <a:r>
              <a:rPr lang="en-IN" sz="2000" dirty="0"/>
              <a:t> (Cloud Lite + Granite) to deliver scalable, AI-powered financial education with secure retrieval and generation.</a:t>
            </a:r>
          </a:p>
          <a:p>
            <a:pPr algn="just"/>
            <a:endParaRPr lang="en-IN" sz="20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505968"/>
            <a:ext cx="10185713" cy="892552"/>
          </a:xfrm>
          <a:prstGeom prst="rect">
            <a:avLst/>
          </a:prstGeom>
          <a:noFill/>
        </p:spPr>
        <p:txBody>
          <a:bodyPr wrap="square" rtlCol="0">
            <a:spAutoFit/>
          </a:bodyPr>
          <a:lstStyle/>
          <a:p>
            <a:r>
              <a:rPr lang="en-US" sz="2800" b="1" dirty="0"/>
              <a:t>Problem</a:t>
            </a:r>
            <a:r>
              <a:rPr lang="en-US" sz="2400" b="1" dirty="0"/>
              <a:t> </a:t>
            </a:r>
            <a:r>
              <a:rPr lang="en-US" sz="2800" b="1" dirty="0"/>
              <a:t>Statement</a:t>
            </a:r>
            <a:r>
              <a:rPr lang="en-US" sz="2400" b="1" dirty="0"/>
              <a:t> - </a:t>
            </a:r>
            <a:r>
              <a:rPr lang="en-IN" sz="2400" dirty="0"/>
              <a:t>AI Agent for Digital Financial Literacy </a:t>
            </a:r>
            <a:endParaRPr lang="en-US" sz="2400" b="1" dirty="0"/>
          </a:p>
          <a:p>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0352" y="685800"/>
            <a:ext cx="10838688" cy="5632311"/>
          </a:xfrm>
          <a:prstGeom prst="rect">
            <a:avLst/>
          </a:prstGeom>
          <a:noFill/>
        </p:spPr>
        <p:txBody>
          <a:bodyPr wrap="square" rtlCol="0">
            <a:spAutoFit/>
          </a:bodyPr>
          <a:lstStyle/>
          <a:p>
            <a:pPr algn="just"/>
            <a:endParaRPr lang="en-IN" sz="2000" b="1" dirty="0"/>
          </a:p>
          <a:p>
            <a:pPr algn="just"/>
            <a:r>
              <a:rPr lang="en-IN" sz="2000" dirty="0"/>
              <a:t>Imagine a friendly digital companion that sits beside you whenever you’re navigating the world of online finance. This AI-powered Financial Literacy Agent, built on </a:t>
            </a:r>
            <a:r>
              <a:rPr lang="en-IN" sz="2000" b="1" dirty="0"/>
              <a:t>IBM Cloud Lite services, watsonx.ai, and Granite Models</a:t>
            </a:r>
            <a:r>
              <a:rPr lang="en-IN" sz="2000" dirty="0"/>
              <a:t>, is designed to make digital money management simple, safe, and personalized.</a:t>
            </a:r>
          </a:p>
          <a:p>
            <a:pPr algn="just"/>
            <a:r>
              <a:rPr lang="en-IN" sz="2000" dirty="0"/>
              <a:t>At its heart, the agent uses a </a:t>
            </a:r>
            <a:r>
              <a:rPr lang="en-IN" sz="2000" b="1" dirty="0"/>
              <a:t>Retrieval-Augmented Generation (RAG) pipeline</a:t>
            </a:r>
            <a:r>
              <a:rPr lang="en-IN" sz="2000" dirty="0"/>
              <a:t> to pull reliable information from trusted sources like RBI guidelines, government portals, and banking websites</a:t>
            </a:r>
          </a:p>
          <a:p>
            <a:pPr algn="just"/>
            <a:r>
              <a:rPr lang="en-IN" sz="2000" dirty="0"/>
              <a:t>The system is powered by four specialized agents, each acting like a helpful teammate:</a:t>
            </a:r>
          </a:p>
          <a:p>
            <a:pPr marL="342900" lvl="0" indent="-342900" algn="just">
              <a:buFont typeface="Wingdings" panose="05000000000000000000" pitchFamily="2" charset="2"/>
              <a:buChar char="Ø"/>
            </a:pPr>
            <a:r>
              <a:rPr lang="en-IN" sz="2000" b="1" dirty="0"/>
              <a:t>Financial Knowledge Agent</a:t>
            </a:r>
            <a:r>
              <a:rPr lang="en-IN" sz="2000" dirty="0"/>
              <a:t>: Your explainer-in-chief, breaking down complex financial terms into clear, everyday language.</a:t>
            </a:r>
          </a:p>
          <a:p>
            <a:pPr marL="342900" lvl="0" indent="-342900" algn="just">
              <a:buFont typeface="Wingdings" panose="05000000000000000000" pitchFamily="2" charset="2"/>
              <a:buChar char="Ø"/>
            </a:pPr>
            <a:r>
              <a:rPr lang="en-IN" sz="2000" b="1" dirty="0"/>
              <a:t>Transaction Guidance Agent</a:t>
            </a:r>
            <a:r>
              <a:rPr lang="en-IN" sz="2000" dirty="0"/>
              <a:t>: A step-by-step coach that walks you through UPI payments, fund transfers, and digital wallet usage.</a:t>
            </a:r>
          </a:p>
          <a:p>
            <a:pPr marL="342900" lvl="0" indent="-342900" algn="just">
              <a:buFont typeface="Wingdings" panose="05000000000000000000" pitchFamily="2" charset="2"/>
              <a:buChar char="Ø"/>
            </a:pPr>
            <a:r>
              <a:rPr lang="en-IN" sz="2000" b="1" dirty="0"/>
              <a:t>Fraud Awareness &amp; Advisory Agent</a:t>
            </a:r>
            <a:r>
              <a:rPr lang="en-IN" sz="2000" dirty="0"/>
              <a:t>: A vigilant protector that teaches you how to spot scams, phishing attempts, and unsafe practices online.</a:t>
            </a:r>
          </a:p>
          <a:p>
            <a:pPr marL="342900" lvl="0" indent="-342900" algn="just">
              <a:buFont typeface="Wingdings" panose="05000000000000000000" pitchFamily="2" charset="2"/>
              <a:buChar char="Ø"/>
            </a:pPr>
            <a:r>
              <a:rPr lang="en-IN" sz="2000" b="1" dirty="0"/>
              <a:t>Budgeting &amp; Personal Finance Agent</a:t>
            </a:r>
            <a:r>
              <a:rPr lang="en-IN" sz="2000" dirty="0"/>
              <a:t>: Your planner, helping you set budgets, track expenses, and understand loans or EMIs with practical insights.</a:t>
            </a:r>
          </a:p>
          <a:p>
            <a:pPr algn="just"/>
            <a:endParaRPr lang="en-IN"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91312" y="246888"/>
            <a:ext cx="11265408" cy="523220"/>
          </a:xfrm>
          <a:prstGeom prst="rect">
            <a:avLst/>
          </a:prstGeom>
          <a:noFill/>
        </p:spPr>
        <p:txBody>
          <a:bodyPr wrap="square" rtlCol="0">
            <a:spAutoFit/>
          </a:bodyPr>
          <a:lstStyle/>
          <a:p>
            <a:r>
              <a:rPr lang="en-US" sz="2800" b="1" dirty="0"/>
              <a:t>Proposed Solution -</a:t>
            </a:r>
            <a:r>
              <a:rPr lang="en-IN" sz="2800" b="1" dirty="0"/>
              <a:t> AI-Powered Digital Financial Literacy Agent</a:t>
            </a:r>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62000" y="36271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563880" y="963168"/>
            <a:ext cx="10500360" cy="5324535"/>
          </a:xfrm>
          <a:prstGeom prst="rect">
            <a:avLst/>
          </a:prstGeom>
          <a:noFill/>
        </p:spPr>
        <p:txBody>
          <a:bodyPr wrap="square" rtlCol="0">
            <a:spAutoFit/>
          </a:bodyPr>
          <a:lstStyle/>
          <a:p>
            <a:pPr marL="285750" lvl="0" indent="-285750" algn="just">
              <a:buFont typeface="Wingdings" panose="05000000000000000000" pitchFamily="2" charset="2"/>
              <a:buChar char="q"/>
            </a:pPr>
            <a:r>
              <a:rPr lang="en-IN" sz="2000" b="1" dirty="0"/>
              <a:t>IBM Bob platform</a:t>
            </a:r>
            <a:r>
              <a:rPr lang="en-IN" sz="2000" dirty="0"/>
              <a:t> – For designing and orchestrating multi-agent workflows visually, ensuring smooth coordination between knowledge retrieval, fraud detection, transaction guidance, and budgeting agents.</a:t>
            </a:r>
          </a:p>
          <a:p>
            <a:pPr marL="285750" lvl="0" indent="-285750" algn="just">
              <a:buFont typeface="Wingdings" panose="05000000000000000000" pitchFamily="2" charset="2"/>
              <a:buChar char="q"/>
            </a:pPr>
            <a:r>
              <a:rPr lang="en-IN" sz="2000" b="1" dirty="0"/>
              <a:t>IBM Granite model (e.g., ibm-granite-3-2-8b)</a:t>
            </a:r>
            <a:r>
              <a:rPr lang="en-IN" sz="2000" dirty="0"/>
              <a:t> – Powers natural language understanding, reasoning, and personalization, enabling the agent to explain financial concepts clearly and adapt responses to diverse user needs. </a:t>
            </a:r>
          </a:p>
          <a:p>
            <a:pPr marL="285750" lvl="0" indent="-285750" algn="just">
              <a:buFont typeface="Wingdings" panose="05000000000000000000" pitchFamily="2" charset="2"/>
              <a:buChar char="q"/>
            </a:pPr>
            <a:r>
              <a:rPr lang="en-IN" sz="2000" b="1" dirty="0"/>
              <a:t>IBM Cloud</a:t>
            </a:r>
            <a:r>
              <a:rPr lang="en-IN" sz="2000" dirty="0"/>
              <a:t> – Provides the infrastructure to build, deploy, and scale the Financial Literacy Agent efficiently. It ensures a reliable, secure, and scalable environment for delivering financial guidance</a:t>
            </a:r>
          </a:p>
          <a:p>
            <a:pPr marL="285750" lvl="0" indent="-285750" algn="just">
              <a:buFont typeface="Wingdings" panose="05000000000000000000" pitchFamily="2" charset="2"/>
              <a:buChar char="q"/>
            </a:pPr>
            <a:r>
              <a:rPr lang="en-IN" sz="2000" b="1" dirty="0"/>
              <a:t>RAG (Retrieval-Augmented Generation)</a:t>
            </a:r>
            <a:r>
              <a:rPr lang="en-IN" sz="2000" dirty="0"/>
              <a:t> – Fetches real financial data first (from RBI guidelines, government portals, and banking websites), then generates intelligent answers, making the agent trustworthy and authoritative.</a:t>
            </a:r>
          </a:p>
          <a:p>
            <a:pPr marL="285750" lvl="0" indent="-285750" algn="just">
              <a:buFont typeface="Wingdings" panose="05000000000000000000" pitchFamily="2" charset="2"/>
              <a:buChar char="q"/>
            </a:pPr>
            <a:r>
              <a:rPr lang="en-IN" sz="2000" b="1" dirty="0"/>
              <a:t>IBM Watsonx.ai</a:t>
            </a:r>
            <a:r>
              <a:rPr lang="en-IN" sz="2000" dirty="0"/>
              <a:t> – Handles model deployment, embeddings, and AI governance, ensuring compliance, scalability, and responsible AI use in financial education.</a:t>
            </a:r>
          </a:p>
          <a:p>
            <a:pPr marL="285750" lvl="0" indent="-285750" algn="just">
              <a:buFont typeface="Wingdings" panose="05000000000000000000" pitchFamily="2" charset="2"/>
              <a:buChar char="q"/>
            </a:pPr>
            <a:r>
              <a:rPr lang="en-IN" sz="2000" b="1" dirty="0"/>
              <a:t>Vector Database (FAISS/Chroma)</a:t>
            </a:r>
            <a:r>
              <a:rPr lang="en-IN" sz="2000" dirty="0"/>
              <a:t> – Stores embedded financial knowledge for RAG-based retrieval, enabling fast, accurate responses to queries about UPI, budgeting, loans, and fraud prevention.</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55175" y="375992"/>
            <a:ext cx="7692010" cy="51496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Required Files created using IBM bob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27538" y="1035516"/>
            <a:ext cx="8880269" cy="5201424"/>
          </a:xfrm>
          <a:prstGeom prst="rect">
            <a:avLst/>
          </a:prstGeom>
          <a:noFill/>
        </p:spPr>
        <p:txBody>
          <a:bodyPr wrap="square" rtlCol="0">
            <a:spAutoFit/>
          </a:bodyPr>
          <a:lstStyle/>
          <a:p>
            <a:pPr marL="342900" indent="-342900">
              <a:buFont typeface="+mj-lt"/>
              <a:buAutoNum type="arabicPeriod"/>
            </a:pPr>
            <a:endParaRPr lang="en-US" sz="2000" dirty="0"/>
          </a:p>
          <a:p>
            <a:pPr marL="342900" indent="-342900">
              <a:buFont typeface="+mj-lt"/>
              <a:buAutoNum type="arabicPeriod"/>
            </a:pPr>
            <a:r>
              <a:rPr lang="en-US" sz="2000" dirty="0"/>
              <a:t>server.js</a:t>
            </a:r>
          </a:p>
          <a:p>
            <a:pPr marL="342900" indent="-342900">
              <a:buFont typeface="+mj-lt"/>
              <a:buAutoNum type="arabicPeriod"/>
            </a:pPr>
            <a:endParaRPr lang="en-US" sz="2000" dirty="0"/>
          </a:p>
          <a:p>
            <a:pPr marL="342900" indent="-342900">
              <a:buFont typeface="+mj-lt"/>
              <a:buAutoNum type="arabicPeriod"/>
            </a:pPr>
            <a:r>
              <a:rPr lang="en-US" sz="2000" dirty="0" err="1"/>
              <a:t>settings.json</a:t>
            </a:r>
            <a:endParaRPr lang="en-US" sz="2000" dirty="0"/>
          </a:p>
          <a:p>
            <a:pPr marL="342900" indent="-342900">
              <a:buFont typeface="+mj-lt"/>
              <a:buAutoNum type="arabicPeriod"/>
            </a:pPr>
            <a:endParaRPr lang="en-US" sz="2000" dirty="0"/>
          </a:p>
          <a:p>
            <a:pPr marL="342900" indent="-342900">
              <a:buFont typeface="+mj-lt"/>
              <a:buAutoNum type="arabicPeriod"/>
            </a:pPr>
            <a:r>
              <a:rPr lang="en-US" sz="2000" dirty="0" err="1"/>
              <a:t>Package.json</a:t>
            </a:r>
            <a:endParaRPr lang="en-US" sz="2000" dirty="0"/>
          </a:p>
          <a:p>
            <a:pPr marL="342900" indent="-342900">
              <a:buFont typeface="+mj-lt"/>
              <a:buAutoNum type="arabicPeriod"/>
            </a:pPr>
            <a:endParaRPr lang="en-US" sz="2000" dirty="0"/>
          </a:p>
          <a:p>
            <a:pPr marL="342900" indent="-342900">
              <a:buFont typeface="+mj-lt"/>
              <a:buAutoNum type="arabicPeriod"/>
            </a:pPr>
            <a:r>
              <a:rPr lang="en-US" sz="2000" dirty="0"/>
              <a:t>.env</a:t>
            </a:r>
          </a:p>
          <a:p>
            <a:pPr marL="342900" indent="-342900">
              <a:buFont typeface="+mj-lt"/>
              <a:buAutoNum type="arabicPeriod"/>
            </a:pPr>
            <a:endParaRPr lang="en-US" sz="2000" dirty="0"/>
          </a:p>
          <a:p>
            <a:pPr marL="342900" indent="-342900">
              <a:buFont typeface="+mj-lt"/>
              <a:buAutoNum type="arabicPeriod"/>
            </a:pPr>
            <a:r>
              <a:rPr lang="en-US" sz="2000" dirty="0"/>
              <a:t>Index.html</a:t>
            </a:r>
          </a:p>
          <a:p>
            <a:endParaRPr lang="en-US" sz="2000"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8960089" y="661502"/>
            <a:ext cx="961805" cy="3566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 name="Picture 4">
            <a:extLst>
              <a:ext uri="{FF2B5EF4-FFF2-40B4-BE49-F238E27FC236}">
                <a16:creationId xmlns:a16="http://schemas.microsoft.com/office/drawing/2014/main" id="{5924EE6F-8691-CA8A-EF13-1BAC8BD1E5ED}"/>
              </a:ext>
            </a:extLst>
          </p:cNvPr>
          <p:cNvPicPr>
            <a:picLocks noChangeAspect="1"/>
          </p:cNvPicPr>
          <p:nvPr/>
        </p:nvPicPr>
        <p:blipFill>
          <a:blip r:embed="rId3"/>
          <a:stretch>
            <a:fillRect/>
          </a:stretch>
        </p:blipFill>
        <p:spPr>
          <a:xfrm>
            <a:off x="2813537" y="1283676"/>
            <a:ext cx="9378463" cy="5079605"/>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3940039" y="1266092"/>
            <a:ext cx="6048023" cy="298939"/>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rgbClr val="051D3A"/>
                </a:solidFill>
                <a:latin typeface="Times New Roman"/>
                <a:ea typeface="Times New Roman"/>
                <a:cs typeface="Times New Roman"/>
                <a:sym typeface="Times New Roman"/>
              </a:rPr>
              <a:t> IBM Bob Screenshots:</a:t>
            </a:r>
            <a:endParaRPr sz="2800" b="1" dirty="0">
              <a:sym typeface="Times New Roman"/>
            </a:endParaRPr>
          </a:p>
        </p:txBody>
      </p:sp>
      <p:pic>
        <p:nvPicPr>
          <p:cNvPr id="7" name="Picture 6">
            <a:extLst>
              <a:ext uri="{FF2B5EF4-FFF2-40B4-BE49-F238E27FC236}">
                <a16:creationId xmlns:a16="http://schemas.microsoft.com/office/drawing/2014/main" id="{064D768E-B218-6737-566B-D44C1F74DFF7}"/>
              </a:ext>
            </a:extLst>
          </p:cNvPr>
          <p:cNvPicPr>
            <a:picLocks noChangeAspect="1"/>
          </p:cNvPicPr>
          <p:nvPr/>
        </p:nvPicPr>
        <p:blipFill>
          <a:blip r:embed="rId3"/>
          <a:srcRect/>
          <a:stretch/>
        </p:blipFill>
        <p:spPr>
          <a:xfrm>
            <a:off x="2227752" y="1253111"/>
            <a:ext cx="7736495" cy="435177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648442" y="400546"/>
            <a:ext cx="10163182" cy="5716790"/>
          </a:xfrm>
          <a:prstGeom prst="rect">
            <a:avLst/>
          </a:prstGeom>
        </p:spPr>
      </p:pic>
      <p:sp>
        <p:nvSpPr>
          <p:cNvPr id="2" name="Rectangle 1">
            <a:extLst>
              <a:ext uri="{FF2B5EF4-FFF2-40B4-BE49-F238E27FC236}">
                <a16:creationId xmlns:a16="http://schemas.microsoft.com/office/drawing/2014/main" id="{1FD70E5C-B78D-F34B-94AD-426F64EF5A0F}"/>
              </a:ext>
            </a:extLst>
          </p:cNvPr>
          <p:cNvSpPr/>
          <p:nvPr/>
        </p:nvSpPr>
        <p:spPr>
          <a:xfrm>
            <a:off x="1386840" y="822960"/>
            <a:ext cx="2880360" cy="4876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7" name="Rectangle 6">
            <a:extLst>
              <a:ext uri="{FF2B5EF4-FFF2-40B4-BE49-F238E27FC236}">
                <a16:creationId xmlns:a16="http://schemas.microsoft.com/office/drawing/2014/main" id="{4454CCF9-D196-B898-6B9E-BE6D0B46179E}"/>
              </a:ext>
            </a:extLst>
          </p:cNvPr>
          <p:cNvSpPr/>
          <p:nvPr/>
        </p:nvSpPr>
        <p:spPr>
          <a:xfrm>
            <a:off x="1370340" y="5276088"/>
            <a:ext cx="5908284" cy="45415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9" name="Rectangle 8">
            <a:extLst>
              <a:ext uri="{FF2B5EF4-FFF2-40B4-BE49-F238E27FC236}">
                <a16:creationId xmlns:a16="http://schemas.microsoft.com/office/drawing/2014/main" id="{AC4EA4AE-DE89-7713-22A1-E43C959D825D}"/>
              </a:ext>
            </a:extLst>
          </p:cNvPr>
          <p:cNvSpPr/>
          <p:nvPr/>
        </p:nvSpPr>
        <p:spPr>
          <a:xfrm>
            <a:off x="1219200" y="822960"/>
            <a:ext cx="4937760" cy="502920"/>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 for IBM bob:</a:t>
            </a:r>
            <a:endParaRPr lang="en-US" sz="2800" dirty="0"/>
          </a:p>
        </p:txBody>
      </p:sp>
      <p:pic>
        <p:nvPicPr>
          <p:cNvPr id="5" name="Picture 4">
            <a:extLst>
              <a:ext uri="{FF2B5EF4-FFF2-40B4-BE49-F238E27FC236}">
                <a16:creationId xmlns:a16="http://schemas.microsoft.com/office/drawing/2014/main" id="{CE3AC9D4-88C3-5DE9-A066-220BB3526897}"/>
              </a:ext>
            </a:extLst>
          </p:cNvPr>
          <p:cNvPicPr>
            <a:picLocks noChangeAspect="1"/>
          </p:cNvPicPr>
          <p:nvPr/>
        </p:nvPicPr>
        <p:blipFill>
          <a:blip r:embed="rId3"/>
          <a:stretch>
            <a:fillRect/>
          </a:stretch>
        </p:blipFill>
        <p:spPr>
          <a:xfrm>
            <a:off x="949569" y="1090247"/>
            <a:ext cx="9249507" cy="444890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417705" y="138085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612648" y="390144"/>
            <a:ext cx="9317736" cy="954107"/>
          </a:xfrm>
          <a:prstGeom prst="rect">
            <a:avLst/>
          </a:prstGeom>
          <a:noFill/>
        </p:spPr>
        <p:txBody>
          <a:bodyPr wrap="square" rtlCol="0">
            <a:spAutoFit/>
          </a:bodyPr>
          <a:lstStyle/>
          <a:p>
            <a:r>
              <a:rPr lang="en-US" sz="2800" b="1" dirty="0"/>
              <a:t>Role of Agentic AI in </a:t>
            </a:r>
            <a:r>
              <a:rPr lang="en-IN" sz="2800" b="1" dirty="0"/>
              <a:t>Digital Financial Literacy Agent</a:t>
            </a:r>
          </a:p>
          <a:p>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67512" y="1365613"/>
            <a:ext cx="7406640" cy="4708981"/>
          </a:xfrm>
          <a:prstGeom prst="rect">
            <a:avLst/>
          </a:prstGeom>
          <a:noFill/>
        </p:spPr>
        <p:txBody>
          <a:bodyPr wrap="square" rtlCol="0">
            <a:spAutoFit/>
          </a:bodyPr>
          <a:lstStyle/>
          <a:p>
            <a:pPr algn="just"/>
            <a:r>
              <a:rPr lang="en-IN" sz="2000" dirty="0"/>
              <a:t>Agentic AI transforms the Financial Literacy Agent from being just a chatbot into a </a:t>
            </a:r>
            <a:r>
              <a:rPr lang="en-IN" sz="2000" b="1" dirty="0"/>
              <a:t>smart, autonomous financial guide</a:t>
            </a:r>
            <a:r>
              <a:rPr lang="en-IN" sz="2000" dirty="0"/>
              <a:t>. Powered by </a:t>
            </a:r>
            <a:r>
              <a:rPr lang="en-IN" sz="2000" b="1" dirty="0"/>
              <a:t>IBM watsonx.ai</a:t>
            </a:r>
            <a:r>
              <a:rPr lang="en-IN" sz="2000" dirty="0"/>
              <a:t> and </a:t>
            </a:r>
            <a:r>
              <a:rPr lang="en-IN" sz="2000" b="1" dirty="0"/>
              <a:t>IBM Granite models</a:t>
            </a:r>
            <a:r>
              <a:rPr lang="en-IN" sz="2000" dirty="0"/>
              <a:t>, it coordinates multiple specialized agents that work together to deliver clear, personalized financial support.</a:t>
            </a:r>
          </a:p>
          <a:p>
            <a:pPr algn="just"/>
            <a:r>
              <a:rPr lang="en-IN" sz="2000" dirty="0"/>
              <a:t>What makes Agentic AI special is its </a:t>
            </a:r>
            <a:r>
              <a:rPr lang="en-IN" sz="2000" b="1" dirty="0"/>
              <a:t>context awareness</a:t>
            </a:r>
            <a:r>
              <a:rPr lang="en-IN" sz="2000" dirty="0"/>
              <a:t>. It doesn’t just give generic advice—it adapts to the user’s background, language, and financial </a:t>
            </a:r>
            <a:r>
              <a:rPr lang="en-IN" sz="2000" dirty="0" err="1"/>
              <a:t>needsThe</a:t>
            </a:r>
            <a:r>
              <a:rPr lang="en-IN" sz="2000" dirty="0"/>
              <a:t> system also supports </a:t>
            </a:r>
            <a:r>
              <a:rPr lang="en-IN" sz="2000" b="1" dirty="0"/>
              <a:t>real-time adaptation</a:t>
            </a:r>
            <a:r>
              <a:rPr lang="en-IN" sz="2000" dirty="0"/>
              <a:t>. As users interact—logging expenses, asking questions, or updating their financial goals—the agents continuously refine their guidance. Agentic AI makes the Financial Literacy Agent </a:t>
            </a:r>
            <a:r>
              <a:rPr lang="en-IN" sz="2000" b="1" dirty="0"/>
              <a:t>proactive, personalized, and goal-driven</a:t>
            </a:r>
            <a:r>
              <a:rPr lang="en-IN" sz="2000" dirty="0"/>
              <a:t>. It acts less like a machine and more like a </a:t>
            </a:r>
            <a:r>
              <a:rPr lang="en-IN" sz="2000" b="1" dirty="0"/>
              <a:t>trusted digital mentor</a:t>
            </a:r>
            <a:r>
              <a:rPr lang="en-IN" sz="2000" dirty="0"/>
              <a:t>, empowering users to navigate digital finance with confidence, safety, and clarity.</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 </a:t>
            </a:r>
            <a:endParaRPr sz="28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11,761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366017" y="2499312"/>
            <a:ext cx="5080000" cy="2857500"/>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6481863" y="2451181"/>
            <a:ext cx="5080000"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7" name="Picture 6">
            <a:extLst>
              <a:ext uri="{FF2B5EF4-FFF2-40B4-BE49-F238E27FC236}">
                <a16:creationId xmlns:a16="http://schemas.microsoft.com/office/drawing/2014/main" id="{0B3151F5-BF0D-348A-85FF-808838A83395}"/>
              </a:ext>
            </a:extLst>
          </p:cNvPr>
          <p:cNvPicPr>
            <a:picLocks noChangeAspect="1"/>
          </p:cNvPicPr>
          <p:nvPr/>
        </p:nvPicPr>
        <p:blipFill>
          <a:blip r:embed="rId3"/>
          <a:stretch>
            <a:fillRect/>
          </a:stretch>
        </p:blipFill>
        <p:spPr>
          <a:xfrm>
            <a:off x="474785" y="879230"/>
            <a:ext cx="10955216" cy="562707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9B3B9FCF-CED7-13F7-3B78-E63D8D662648}"/>
              </a:ext>
            </a:extLst>
          </p:cNvPr>
          <p:cNvPicPr>
            <a:picLocks noChangeAspect="1"/>
          </p:cNvPicPr>
          <p:nvPr/>
        </p:nvPicPr>
        <p:blipFill>
          <a:blip r:embed="rId3"/>
          <a:stretch>
            <a:fillRect/>
          </a:stretch>
        </p:blipFill>
        <p:spPr>
          <a:xfrm>
            <a:off x="509954" y="1160585"/>
            <a:ext cx="10902461" cy="516987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7060D99-C770-7F38-0DCA-206DC3DD6CF4}"/>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9137F204-A24B-DE93-33EC-B7A73837B82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7DC7F5C2-CB0F-848B-CFB7-F75DBDA357A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415FFE1-D8B6-1842-10B1-5433BCD1640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C60C224-32AE-CE29-D8A1-0DF7E2301850}"/>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5F2B5A0-BF86-91F7-4823-7447AB7365D4}"/>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39A6CACE-AF5B-C6C3-364E-005CF6E264E1}"/>
              </a:ext>
            </a:extLst>
          </p:cNvPr>
          <p:cNvPicPr>
            <a:picLocks noChangeAspect="1"/>
          </p:cNvPicPr>
          <p:nvPr/>
        </p:nvPicPr>
        <p:blipFill>
          <a:blip r:embed="rId3"/>
          <a:stretch>
            <a:fillRect/>
          </a:stretch>
        </p:blipFill>
        <p:spPr>
          <a:xfrm>
            <a:off x="896816" y="949569"/>
            <a:ext cx="10234246" cy="5240216"/>
          </a:xfrm>
          <a:prstGeom prst="rect">
            <a:avLst/>
          </a:prstGeom>
        </p:spPr>
      </p:pic>
    </p:spTree>
    <p:extLst>
      <p:ext uri="{BB962C8B-B14F-4D97-AF65-F5344CB8AC3E}">
        <p14:creationId xmlns:p14="http://schemas.microsoft.com/office/powerpoint/2010/main" val="1011230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2F11F1D-5B35-0DDC-B3BA-3C389EF4A03D}"/>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9C75C9E-978F-F63F-90F4-CCCBC4F57B7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783EDE0F-4799-3532-B1F7-DA27C992BB5A}"/>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CA07373C-F4C5-7287-A93A-9782D76E69C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4C049241-30E3-D239-3DFB-B0E4A9FD5FD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AF90394-F4A8-087C-4A4D-1365B34F8AF1}"/>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5AFBB304-48C0-9881-91E3-756F88842337}"/>
              </a:ext>
            </a:extLst>
          </p:cNvPr>
          <p:cNvPicPr>
            <a:picLocks noChangeAspect="1"/>
          </p:cNvPicPr>
          <p:nvPr/>
        </p:nvPicPr>
        <p:blipFill>
          <a:blip r:embed="rId3"/>
          <a:stretch>
            <a:fillRect/>
          </a:stretch>
        </p:blipFill>
        <p:spPr>
          <a:xfrm>
            <a:off x="439615" y="1406769"/>
            <a:ext cx="11166232" cy="4396154"/>
          </a:xfrm>
          <a:prstGeom prst="rect">
            <a:avLst/>
          </a:prstGeom>
        </p:spPr>
      </p:pic>
    </p:spTree>
    <p:extLst>
      <p:ext uri="{BB962C8B-B14F-4D97-AF65-F5344CB8AC3E}">
        <p14:creationId xmlns:p14="http://schemas.microsoft.com/office/powerpoint/2010/main" val="2790939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C1404F6-9D0F-40DB-DA72-FD380317179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C748C40-E39E-BC42-1EDB-CB7ED746487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C053180F-7834-2B03-30F2-4E71804A4606}"/>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4B0FD24-0EBF-418D-DD54-28084346B6B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DD0276B3-486E-CE3E-E96B-833AD2F3B38E}"/>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C05EEBA-AFCF-D442-56AE-2E7C65D08B28}"/>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A5BAEC0F-633E-C6BF-8682-B8053FD12F67}"/>
              </a:ext>
            </a:extLst>
          </p:cNvPr>
          <p:cNvPicPr>
            <a:picLocks noChangeAspect="1"/>
          </p:cNvPicPr>
          <p:nvPr/>
        </p:nvPicPr>
        <p:blipFill>
          <a:blip r:embed="rId3"/>
          <a:stretch>
            <a:fillRect/>
          </a:stretch>
        </p:blipFill>
        <p:spPr>
          <a:xfrm>
            <a:off x="895738" y="769700"/>
            <a:ext cx="10599575" cy="5915759"/>
          </a:xfrm>
          <a:prstGeom prst="rect">
            <a:avLst/>
          </a:prstGeom>
        </p:spPr>
      </p:pic>
    </p:spTree>
    <p:extLst>
      <p:ext uri="{BB962C8B-B14F-4D97-AF65-F5344CB8AC3E}">
        <p14:creationId xmlns:p14="http://schemas.microsoft.com/office/powerpoint/2010/main" val="738005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317480" cy="5324535"/>
          </a:xfrm>
          <a:prstGeom prst="rect">
            <a:avLst/>
          </a:prstGeom>
          <a:noFill/>
        </p:spPr>
        <p:txBody>
          <a:bodyPr wrap="square" rtlCol="0">
            <a:spAutoFit/>
          </a:bodyPr>
          <a:lstStyle/>
          <a:p>
            <a:pPr marL="285750" indent="-285750" algn="just">
              <a:buFont typeface="Wingdings" panose="05000000000000000000" pitchFamily="2" charset="2"/>
              <a:buChar char="ü"/>
            </a:pPr>
            <a:r>
              <a:rPr lang="en-IN" sz="2000" b="1" dirty="0"/>
              <a:t>Why the Digital Financial Literacy Agent Stands Out</a:t>
            </a:r>
          </a:p>
          <a:p>
            <a:pPr algn="just"/>
            <a:endParaRPr lang="en-IN" sz="2000" b="1" dirty="0"/>
          </a:p>
          <a:p>
            <a:pPr marL="285750" indent="-285750" algn="just">
              <a:buFont typeface="Wingdings" panose="05000000000000000000" pitchFamily="2" charset="2"/>
              <a:buChar char="q"/>
            </a:pPr>
            <a:r>
              <a:rPr lang="en-IN" sz="2000" dirty="0"/>
              <a:t>The proposed Financial Literacy Agent combines </a:t>
            </a:r>
            <a:r>
              <a:rPr lang="en-IN" sz="2000" b="1" dirty="0"/>
              <a:t>Agentic AI, RAG, and personalization</a:t>
            </a:r>
            <a:r>
              <a:rPr lang="en-IN" sz="2000" dirty="0"/>
              <a:t> into one intelligent, trustworthy system.</a:t>
            </a:r>
          </a:p>
          <a:p>
            <a:pPr marL="285750" lvl="0" indent="-285750" algn="just">
              <a:buFont typeface="Wingdings" panose="05000000000000000000" pitchFamily="2" charset="2"/>
              <a:buChar char="q"/>
            </a:pPr>
            <a:r>
              <a:rPr lang="en-IN" sz="2000" b="1" dirty="0"/>
              <a:t>Multi-Agent Intelligence</a:t>
            </a:r>
            <a:r>
              <a:rPr lang="en-IN" sz="2000" dirty="0"/>
              <a:t> – Instead of being just a chatbot, multiple specialized agents collaborate to deliver accurate, context-aware financial guidance.</a:t>
            </a:r>
          </a:p>
          <a:p>
            <a:pPr marL="285750" lvl="0" indent="-285750" algn="just">
              <a:buFont typeface="Wingdings" panose="05000000000000000000" pitchFamily="2" charset="2"/>
              <a:buChar char="q"/>
            </a:pPr>
            <a:r>
              <a:rPr lang="en-IN" sz="2000" b="1" dirty="0"/>
              <a:t>RAG-Based Accuracy</a:t>
            </a:r>
            <a:r>
              <a:rPr lang="en-IN" sz="2000" dirty="0"/>
              <a:t> – Real-time retrieval from RBI guidelines, government portals, and banking sites ensures trustworthy answers, reducing misinformation.</a:t>
            </a:r>
          </a:p>
          <a:p>
            <a:pPr marL="285750" lvl="0" indent="-285750" algn="just">
              <a:buFont typeface="Wingdings" panose="05000000000000000000" pitchFamily="2" charset="2"/>
              <a:buChar char="q"/>
            </a:pPr>
            <a:r>
              <a:rPr lang="en-IN" sz="2000" b="1" dirty="0"/>
              <a:t>Hyper-Personalization</a:t>
            </a:r>
            <a:r>
              <a:rPr lang="en-IN" sz="2000" dirty="0"/>
              <a:t> – Tailors financial advice based on user background, language, spending habits, and financial goals.</a:t>
            </a:r>
          </a:p>
          <a:p>
            <a:pPr marL="285750" lvl="0" indent="-285750" algn="just">
              <a:buFont typeface="Wingdings" panose="05000000000000000000" pitchFamily="2" charset="2"/>
              <a:buChar char="q"/>
            </a:pPr>
            <a:r>
              <a:rPr lang="en-IN" sz="2000" b="1" dirty="0"/>
              <a:t>Real-Time Feedback Loop</a:t>
            </a:r>
            <a:r>
              <a:rPr lang="en-IN" sz="2000" dirty="0"/>
              <a:t> – Continuously adapts recommendations based on user activity, transactions, and evolving financial needs.</a:t>
            </a:r>
          </a:p>
          <a:p>
            <a:pPr marL="285750" lvl="0" indent="-285750" algn="just">
              <a:buFont typeface="Wingdings" panose="05000000000000000000" pitchFamily="2" charset="2"/>
              <a:buChar char="q"/>
            </a:pPr>
            <a:r>
              <a:rPr lang="en-IN" sz="2000" b="1" dirty="0"/>
              <a:t>Multi-Modal Input</a:t>
            </a:r>
            <a:r>
              <a:rPr lang="en-IN" sz="2000" dirty="0"/>
              <a:t> – Supports text, voice, and even integration with financial apps or smart devices for seamless interaction.</a:t>
            </a:r>
          </a:p>
          <a:p>
            <a:pPr marL="285750" lvl="0" indent="-285750" algn="just">
              <a:buFont typeface="Wingdings" panose="05000000000000000000" pitchFamily="2" charset="2"/>
              <a:buChar char="q"/>
            </a:pPr>
            <a:r>
              <a:rPr lang="en-IN" sz="2000" b="1" dirty="0"/>
              <a:t>Fraud Prevention Focus</a:t>
            </a:r>
            <a:r>
              <a:rPr lang="en-IN" sz="2000" dirty="0"/>
              <a:t> – Goes beyond basic literacy to proactively warn users about scams, phishing, and unsafe practices.</a:t>
            </a:r>
          </a:p>
          <a:p>
            <a:pPr algn="just"/>
            <a:endParaRPr lang="en-IN" sz="2000" dirty="0"/>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37500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3" y="1153712"/>
            <a:ext cx="9894753" cy="4965734"/>
          </a:xfrm>
          <a:prstGeom prst="rect">
            <a:avLst/>
          </a:prstGeom>
          <a:noFill/>
          <a:ln>
            <a:noFill/>
          </a:ln>
        </p:spPr>
        <p:txBody>
          <a:bodyPr spcFirstLastPara="1" wrap="square" lIns="0" tIns="0" rIns="0" bIns="0" anchor="t" anchorCtr="0">
            <a:noAutofit/>
          </a:bodyPr>
          <a:lstStyle/>
          <a:p>
            <a:pPr lvl="0">
              <a:buClr>
                <a:srgbClr val="2B3541"/>
              </a:buClr>
              <a:buSzPts val="1850"/>
            </a:pPr>
            <a:r>
              <a:rPr lang="en-US" sz="2000" b="0" i="0" u="none" strike="noStrike" cap="none" dirty="0">
                <a:solidFill>
                  <a:srgbClr val="2B3541"/>
                </a:solidFill>
                <a:latin typeface="Times New Roman"/>
                <a:ea typeface="Times New Roman"/>
                <a:cs typeface="Times New Roman"/>
                <a:sym typeface="Times New Roman"/>
              </a:rPr>
              <a:t>· Please create public </a:t>
            </a:r>
            <a:r>
              <a:rPr lang="en-US" sz="2000" b="0" i="0" u="none" strike="noStrike" cap="none" dirty="0" err="1">
                <a:solidFill>
                  <a:srgbClr val="2B3541"/>
                </a:solidFill>
                <a:latin typeface="Times New Roman"/>
                <a:ea typeface="Times New Roman"/>
                <a:cs typeface="Times New Roman"/>
                <a:sym typeface="Times New Roman"/>
              </a:rPr>
              <a:t>github</a:t>
            </a:r>
            <a:r>
              <a:rPr lang="en-US" sz="200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r>
              <a:rPr lang="en-IN" sz="2000" dirty="0">
                <a:hlinkClick r:id="rId3"/>
              </a:rPr>
              <a:t>https://github.com/Anusha-demonslayer/Finance-AI-Guider-Digital-Financial-Literacy-Agent/blob/main/README.md</a:t>
            </a:r>
            <a:endParaRPr lang="en-IN" sz="2000" dirty="0"/>
          </a:p>
          <a:p>
            <a:pPr lvl="0">
              <a:buClr>
                <a:srgbClr val="2B3541"/>
              </a:buClr>
              <a:buSzPts val="1850"/>
            </a:pPr>
            <a:endParaRPr lang="en-US" sz="200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2000" dirty="0">
                <a:solidFill>
                  <a:srgbClr val="2B3541"/>
                </a:solidFill>
                <a:latin typeface="Times New Roman"/>
                <a:ea typeface="Times New Roman"/>
                <a:cs typeface="Times New Roman"/>
                <a:sym typeface="Times New Roman"/>
              </a:rPr>
              <a:t>Please test and Paste the working  </a:t>
            </a:r>
            <a:r>
              <a:rPr lang="en-US" sz="2000" dirty="0" err="1">
                <a:solidFill>
                  <a:srgbClr val="2B3541"/>
                </a:solidFill>
                <a:latin typeface="Times New Roman"/>
                <a:ea typeface="Times New Roman"/>
                <a:cs typeface="Times New Roman"/>
                <a:sym typeface="Times New Roman"/>
              </a:rPr>
              <a:t>Github</a:t>
            </a:r>
            <a:r>
              <a:rPr lang="en-US" sz="2000" dirty="0">
                <a:solidFill>
                  <a:srgbClr val="2B3541"/>
                </a:solidFill>
                <a:latin typeface="Times New Roman"/>
                <a:ea typeface="Times New Roman"/>
                <a:cs typeface="Times New Roman"/>
                <a:sym typeface="Times New Roman"/>
              </a:rPr>
              <a:t> URL – </a:t>
            </a:r>
            <a:r>
              <a:rPr lang="en-US" sz="2000" dirty="0">
                <a:solidFill>
                  <a:srgbClr val="2B3541"/>
                </a:solidFill>
                <a:latin typeface="Times New Roman"/>
                <a:ea typeface="Times New Roman"/>
                <a:cs typeface="Times New Roman"/>
                <a:sym typeface="Times New Roman"/>
                <a:hlinkClick r:id="rId4"/>
              </a:rPr>
              <a:t>https://github.com/Anusha-demonslayer/Finance-AI-Guider-Digital-Financial-Literacy-Agent.git</a:t>
            </a:r>
            <a:endParaRPr lang="en-US" sz="20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20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Make sure you have Uploaded following three files into your </a:t>
            </a:r>
            <a:r>
              <a:rPr lang="en-US" sz="2000" b="1" dirty="0" err="1">
                <a:solidFill>
                  <a:srgbClr val="2B3541"/>
                </a:solidFill>
                <a:latin typeface="Times New Roman"/>
                <a:ea typeface="Times New Roman"/>
                <a:cs typeface="Times New Roman"/>
                <a:sym typeface="Times New Roman"/>
              </a:rPr>
              <a:t>github</a:t>
            </a:r>
            <a:r>
              <a:rPr lang="en-US" sz="2000" b="1" dirty="0">
                <a:solidFill>
                  <a:srgbClr val="2B3541"/>
                </a:solidFill>
                <a:latin typeface="Times New Roman"/>
                <a:ea typeface="Times New Roman"/>
                <a:cs typeface="Times New Roman"/>
                <a:sym typeface="Times New Roman"/>
              </a:rPr>
              <a:t> repository  </a:t>
            </a:r>
            <a:br>
              <a:rPr lang="en-US" sz="2000" dirty="0">
                <a:solidFill>
                  <a:srgbClr val="2B3541"/>
                </a:solidFill>
                <a:latin typeface="Times New Roman"/>
                <a:ea typeface="Times New Roman"/>
                <a:cs typeface="Times New Roman"/>
                <a:sym typeface="Times New Roman"/>
              </a:rPr>
            </a:br>
            <a:r>
              <a:rPr lang="en-US" sz="200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959644" y="1921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838200" y="1221715"/>
            <a:ext cx="10485120" cy="4554245"/>
          </a:xfrm>
          <a:prstGeom prst="rect">
            <a:avLst/>
          </a:prstGeom>
          <a:noFill/>
          <a:ln>
            <a:noFill/>
          </a:ln>
        </p:spPr>
        <p:txBody>
          <a:bodyPr spcFirstLastPara="1" wrap="square" lIns="0" tIns="0" rIns="0" bIns="0" anchor="t" anchorCtr="0">
            <a:noAutofit/>
          </a:bodyPr>
          <a:lstStyle/>
          <a:p>
            <a:pPr algn="just"/>
            <a:r>
              <a:rPr lang="en-IN" sz="2000" b="1" dirty="0"/>
              <a:t>Integration with Financial Apps &amp; Smart Devices</a:t>
            </a:r>
          </a:p>
          <a:p>
            <a:pPr marL="342900" indent="-342900" algn="just">
              <a:buFont typeface="Wingdings" panose="05000000000000000000" pitchFamily="2" charset="2"/>
              <a:buChar char="ü"/>
            </a:pPr>
            <a:r>
              <a:rPr lang="en-IN" sz="2000" dirty="0"/>
              <a:t>The Financial Literacy Agent can be integrated with mobile banking apps, digital wallets, and even smart devices like payment-enabled wearables. This allows it to collect real-time transaction data, spending habits, and savings activity. With this live feed, the agent can provide dynamic budgeting tips, instant fraud alerts, and personalized financial guidance based on actual user </a:t>
            </a:r>
            <a:r>
              <a:rPr lang="en-IN" sz="2000" dirty="0" err="1"/>
              <a:t>behavior</a:t>
            </a:r>
            <a:r>
              <a:rPr lang="en-IN" sz="2000" dirty="0"/>
              <a:t>. Instead of static advice, it becomes a </a:t>
            </a:r>
            <a:r>
              <a:rPr lang="en-IN" sz="2000" b="1" dirty="0"/>
              <a:t>living financial coach</a:t>
            </a:r>
            <a:r>
              <a:rPr lang="en-IN" sz="2000" dirty="0"/>
              <a:t> that adapts to how you spend and save every day.</a:t>
            </a:r>
          </a:p>
          <a:p>
            <a:pPr marL="342900" indent="-342900" algn="just">
              <a:buFont typeface="Wingdings" panose="05000000000000000000" pitchFamily="2" charset="2"/>
              <a:buChar char="ü"/>
            </a:pPr>
            <a:endParaRPr lang="en-IN" sz="2000" dirty="0"/>
          </a:p>
          <a:p>
            <a:pPr algn="just"/>
            <a:r>
              <a:rPr lang="en-IN" sz="2000" b="1" dirty="0"/>
              <a:t>AI-Powered Voice Assistant &amp; Multilingual Support</a:t>
            </a:r>
          </a:p>
          <a:p>
            <a:pPr marL="342900" indent="-342900" algn="just">
              <a:buFont typeface="Wingdings" panose="05000000000000000000" pitchFamily="2" charset="2"/>
              <a:buChar char="ü"/>
            </a:pPr>
            <a:r>
              <a:rPr lang="en-IN" sz="2000" dirty="0"/>
              <a:t>To make financial literacy truly inclusive, the agent can be enhanced with a voice-enabled assistant and multilingual support. Users can simply </a:t>
            </a:r>
            <a:r>
              <a:rPr lang="en-IN" sz="2000" b="1" dirty="0"/>
              <a:t>speak naturally in their preferred language</a:t>
            </a:r>
            <a:r>
              <a:rPr lang="en-IN" sz="2000" dirty="0"/>
              <a:t>—whether it’s English, Hindi, Kannada, or any other—and get clear, personalized financial guidance. This breaks down barriers for people who may not be comfortable with text-heavy interfaces or who come from diverse linguistic backgrounds. It ensures that digital finance feels approachable, accessible, and empowering for everyone, no matter where they live or what language they speak.</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2800" dirty="0"/>
          </a:p>
        </p:txBody>
      </p:sp>
      <p:sp>
        <p:nvSpPr>
          <p:cNvPr id="3" name="TextBox 2">
            <a:extLst>
              <a:ext uri="{FF2B5EF4-FFF2-40B4-BE49-F238E27FC236}">
                <a16:creationId xmlns:a16="http://schemas.microsoft.com/office/drawing/2014/main" id="{4837D5EE-379B-FDC5-0854-8AC81D31FADF}"/>
              </a:ext>
            </a:extLst>
          </p:cNvPr>
          <p:cNvSpPr txBox="1"/>
          <p:nvPr/>
        </p:nvSpPr>
        <p:spPr>
          <a:xfrm>
            <a:off x="430128" y="766261"/>
            <a:ext cx="1145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Please  add your </a:t>
            </a:r>
            <a:r>
              <a:rPr lang="en-US" sz="2000" b="1" dirty="0" err="1"/>
              <a:t>credly</a:t>
            </a:r>
            <a:r>
              <a:rPr lang="en-US" sz="2000" b="1" dirty="0"/>
              <a:t> certificate(Getting Started with Artificial Intelligence)  </a:t>
            </a:r>
          </a:p>
        </p:txBody>
      </p:sp>
      <p:pic>
        <p:nvPicPr>
          <p:cNvPr id="5" name="Picture 4">
            <a:extLst>
              <a:ext uri="{FF2B5EF4-FFF2-40B4-BE49-F238E27FC236}">
                <a16:creationId xmlns:a16="http://schemas.microsoft.com/office/drawing/2014/main" id="{037C339C-D80F-7F7B-A845-2BFA88326122}"/>
              </a:ext>
            </a:extLst>
          </p:cNvPr>
          <p:cNvPicPr>
            <a:picLocks noChangeAspect="1"/>
          </p:cNvPicPr>
          <p:nvPr/>
        </p:nvPicPr>
        <p:blipFill>
          <a:blip r:embed="rId2"/>
          <a:stretch>
            <a:fillRect/>
          </a:stretch>
        </p:blipFill>
        <p:spPr>
          <a:xfrm>
            <a:off x="1387131" y="1406768"/>
            <a:ext cx="9417737" cy="478301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496736" y="226391"/>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a:p>
            <a:pPr algn="ctr"/>
            <a:endParaRPr lang="en-US" sz="2800"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Add your IBM BOB Certificate</a:t>
            </a:r>
          </a:p>
        </p:txBody>
      </p:sp>
      <p:pic>
        <p:nvPicPr>
          <p:cNvPr id="8" name="Picture 7">
            <a:extLst>
              <a:ext uri="{FF2B5EF4-FFF2-40B4-BE49-F238E27FC236}">
                <a16:creationId xmlns:a16="http://schemas.microsoft.com/office/drawing/2014/main" id="{AE4DA42F-EB09-EE29-AE4D-DED232043E3F}"/>
              </a:ext>
            </a:extLst>
          </p:cNvPr>
          <p:cNvPicPr>
            <a:picLocks noChangeAspect="1"/>
          </p:cNvPicPr>
          <p:nvPr/>
        </p:nvPicPr>
        <p:blipFill>
          <a:blip r:embed="rId2"/>
          <a:stretch>
            <a:fillRect/>
          </a:stretch>
        </p:blipFill>
        <p:spPr>
          <a:xfrm>
            <a:off x="703385" y="1213338"/>
            <a:ext cx="10339754" cy="504678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TotalTime>
  <Words>1475</Words>
  <Application>Microsoft Office PowerPoint</Application>
  <PresentationFormat>Widescreen</PresentationFormat>
  <Paragraphs>134</Paragraphs>
  <Slides>22</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Anusha S</cp:lastModifiedBy>
  <cp:revision>15</cp:revision>
  <dcterms:created xsi:type="dcterms:W3CDTF">2025-07-08T05:06:56Z</dcterms:created>
  <dcterms:modified xsi:type="dcterms:W3CDTF">2026-09-11T12:46:46Z</dcterms:modified>
</cp:coreProperties>
</file>